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Approved</c:v>
                </c:pt>
                <c:pt idx="1">
                  <c:v>Rejected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69</c:v>
                </c:pt>
                <c:pt idx="1">
                  <c:v>31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Approval by Credit History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Credit Hist: 1</c:v>
                  </c:pt>
                  <c:pt idx="1">
                    <c:v>Credit Hist: 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Credit Hist: 1</c:v>
                  </c:pt>
                  <c:pt idx="1">
                    <c:v>Credit Hist: 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</c:v>
                </c:pt>
                <c:pt idx="1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Accuracy Comparison (Approx. Midpoint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E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4E3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SVM</c:v>
                  </c:pt>
                  <c:pt idx="4">
                    <c:v>KNN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76</c:v>
                </c:pt>
                <c:pt idx="2">
                  <c:v>85</c:v>
                </c:pt>
                <c:pt idx="3">
                  <c:v>81</c:v>
                </c:pt>
                <c:pt idx="4">
                  <c:v>77</c:v>
                </c:pt>
                <c:pt idx="5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SYVORA FINANCE is an AI-powered loan approval prediction system developed during the IIHMNF MNNIT AIML Summer Internship 2026. Team: Shreya Gupta (Leader) and Somya Dwivedi. Built using 6 ML models with Streamlit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gap: traditional loan evaluation is slow, biased, and cannot scale. SYVORA FINANCE closes this gap with AI — delivering real-time, objective, and scalable credit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primary objectives: accurate prediction, automation, data quality, model comparison, and deployment. Secondary objectives support the pipeline quality: feature engineering, selection, SMOTE, tuning, and scalability.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has 12 input features covering demographic, financial, and property data. Target is binary loan status. Key challenge: ~68–70% approvals creates class imbalance — addressed by SMOTE.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10-step pipeline: data collection → preprocessing → EDA → feature engineering → feature selection → SMOTE → scaling → training → tuning → deployment. Emphasize SMOTE and GridSearchCV as key quality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 of data preparation: missing value handling, encoding, feature engineering (4 derived features), and balancing/scaling. SMOTE only on training data — critical to avoid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EDA findings: 69% approval rate confirms class imbalance. Credit History is the #1 predictor. Semiurban, married, and graduate applicants fare better. Income features are right-skewed — log transformation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algorithms evaluated ranging from simple (Logistic Regression) to complex ensemble (Random Forest, XGBoost). All tuned via GridSearchCV with 5-fold CV. Random Forest and XGBoost are the top performers.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leads with 84–88% accuracy and 0.88–0.93 ROC-AUC. Random Forest is a close second. Both are ensemble methods. SMOTE boosted minority-class recall significantly. Feature engineering (Balance Income, EMI) ranked among top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live demo if possible. The app is built on Streamlit. Dashboard shows aggregate metrics. Form collects 11 features. Prediction takes milliseconds. Approval = green screen with confidence %. Rejection = red screen with improvement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key future enhancements: cloud deployment, Explainable AI (SHAP/LIME), fraud detection, mobile app, deep learning, credit bureau API, automated retraining, federated learning, multi-language support, and dynamic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we built a complete, production-ready AI loan approval system. XGBoost achieved ~88% accuracy. SYVORA FINANCE is live on Streamlit. Key value: speed, objectivity, and scalability.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E2554"/>
          </a:solidFill>
          <a:ln w="12700">
            <a:solidFill>
              <a:srgbClr val="0E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731520"/>
            <a:ext cx="2926080" cy="2926080"/>
          </a:xfrm>
          <a:prstGeom prst="ellipse">
            <a:avLst/>
          </a:prstGeom>
          <a:solidFill>
            <a:srgbClr val="2E86DE">
              <a:alpha val="20000"/>
            </a:srgbClr>
          </a:solidFill>
          <a:ln w="12700">
            <a:solidFill>
              <a:srgbClr val="2E86D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560320"/>
            <a:ext cx="2286000" cy="2286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657600"/>
            <a:ext cx="1645920" cy="1645920"/>
          </a:xfrm>
          <a:prstGeom prst="ellipse">
            <a:avLst/>
          </a:prstGeom>
          <a:solidFill>
            <a:srgbClr val="2E86DE">
              <a:alpha val="12000"/>
            </a:srgbClr>
          </a:solidFill>
          <a:ln w="12700">
            <a:solidFill>
              <a:srgbClr val="2E8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SYVORA FINANCE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Loan Approval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Internship Project Report  •  IIHMNF MNNIT AIML Summer Internship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162650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DE"/>
                </a:solidFill>
              </a:rPr>
              <a:t>Submitted by: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Shreya Gupta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Team Leader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Somya Dwivedi  |  Team Member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United College of Engineering &amp; Research  •  AKTU, Lucknow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457200"/>
            <a:ext cx="2377440" cy="2377440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731520"/>
            <a:ext cx="1828800" cy="1828800"/>
          </a:xfrm>
          <a:prstGeom prst="ellipse">
            <a:avLst/>
          </a:prstGeom>
          <a:solidFill>
            <a:srgbClr val="2E86DE">
              <a:alpha val="60000"/>
            </a:srgbClr>
          </a:solidFill>
          <a:ln w="12700">
            <a:solidFill>
              <a:srgbClr val="2E86DE">
                <a:alpha val="7000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60120"/>
            <a:ext cx="1280160" cy="12801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0" y="31546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62650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DE"/>
                </a:solidFill>
              </a:rPr>
              <a:t>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303520" y="3584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ML Models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83680" y="31546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6265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14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83680" y="3584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Pipeline Steps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863840" y="31546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626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~88%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863840" y="3584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Target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6636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  •  FinTech  •  Machine Learning  • 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Loan Approval Automation Needed?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56A0"/>
                </a:solidFill>
              </a:rPr>
              <a:t>TRADITIONAL PROCESS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⏳  Slow, manual evaluation — days to weeks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57984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854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⚠️  Human bias &amp; inconsistent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346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📈  Surging loan application volumes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838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😤  Poor customer experience &amp; long wait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05656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33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🔒  Rigid rule-based systems, no adaptability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</a:rPr>
              <a:t>AI-POWERED 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50876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581912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94960" y="153619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Real-time, millisecond predictions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2157984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231136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218541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Objective, data-driven &amp; bias-free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2807208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88036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94960" y="28346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Handles high-volume applications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846320" y="3456432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2958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348386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Instant approvals — better UX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46320" y="4105656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17880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94960" y="41330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Learns complex patterns, adapts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2E86DE">
              <a:alpha val="12000"/>
            </a:srgbClr>
          </a:solidFill>
          <a:ln w="12700">
            <a:solidFill>
              <a:srgbClr val="2E86D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47472"/>
          </a:xfrm>
          <a:prstGeom prst="roundRect">
            <a:avLst>
              <a:gd name="adj" fmla="val 23684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PRIMARY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585216"/>
          </a:xfrm>
          <a:prstGeom prst="roundRect">
            <a:avLst>
              <a:gd name="adj" fmla="val 15625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39903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139903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Predict loan approval with high accuracy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2048256"/>
            <a:ext cx="4114800" cy="585216"/>
          </a:xfrm>
          <a:prstGeom prst="roundRect">
            <a:avLst>
              <a:gd name="adj" fmla="val 15625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0756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371600" y="207568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Automate credit decision-making pipeline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724912"/>
            <a:ext cx="4114800" cy="585216"/>
          </a:xfrm>
          <a:prstGeom prst="roundRect">
            <a:avLst>
              <a:gd name="adj" fmla="val 15625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88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275234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371600" y="2752344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Handle missing data &amp; class imbalance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3401568"/>
            <a:ext cx="4114800" cy="585216"/>
          </a:xfrm>
          <a:prstGeom prst="roundRect">
            <a:avLst>
              <a:gd name="adj" fmla="val 15625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6557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42900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371600" y="342900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Compare &amp; tune 6 ML algorithms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65760" y="4078224"/>
            <a:ext cx="4114800" cy="585216"/>
          </a:xfrm>
          <a:prstGeom prst="roundRect">
            <a:avLst>
              <a:gd name="adj" fmla="val 15625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4223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" y="410565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371600" y="410565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real-time prediction via Streamlit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754880" y="914400"/>
            <a:ext cx="4023360" cy="347472"/>
          </a:xfrm>
          <a:prstGeom prst="roundRect">
            <a:avLst>
              <a:gd name="adj" fmla="val 2368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SECONDARY OBJECTIVES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754880" y="1371600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0A33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35608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21808" y="139903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Feature engineering — EMI, Balance Income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754880" y="2048256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0A33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11226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21808" y="20756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SelectKBest statistical feature selection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4754880" y="2724912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0A33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788920"/>
            <a:ext cx="347472" cy="34747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21808" y="275234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SMOTE class balancing for minority class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4754880" y="3401568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0A33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65576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21808" y="342900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GridSearchCV hyperparameter optimization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4754880" y="4078224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0A33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142232"/>
            <a:ext cx="347472" cy="34747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321808" y="410565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a scalable, production-ready FinTech app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521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👤  Gender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72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521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💍  Married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472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521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👨‍👩‍👧  Dependents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472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1521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🎓  Education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472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84708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1901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💼  Self Employed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222199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21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0" y="184708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51760" y="1901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💰  Applicant Income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222199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221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84708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901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💵  Coapplicant Income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222199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21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40880" y="184708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1901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🏦  Loan Amount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222199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221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596896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📅  Loan Term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29718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971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0" y="2596896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65176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⭐  Credit History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51760" y="29718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2971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Binary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2596896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9204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🏘️  Property Area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92040" y="29718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971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Categorical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75120" y="2715768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0D1B3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20840" y="2770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</a:rPr>
              <a:t>🎯  TARGET VARIABLE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20840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 Status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58000" y="3401568"/>
            <a:ext cx="777240" cy="25603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401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 = Approved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80960" y="3401568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 = Rejected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20840" y="37307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Class Imbalance: ~68–70% Approved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Methodology  — End-to-End ML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3268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92808" y="1271016"/>
            <a:ext cx="146304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9112" y="9144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0D6EA1"/>
          </a:solidFill>
          <a:ln w="12700">
            <a:solidFill>
              <a:srgbClr val="0D6E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93268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&amp; Imputation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271016"/>
            <a:ext cx="146304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9144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1A7EBF"/>
          </a:solidFill>
          <a:ln w="12700">
            <a:solidFill>
              <a:srgbClr val="1A7E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93268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Exploratory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30952" y="1271016"/>
            <a:ext cx="146304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7256" y="9144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93268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Engineering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50024" y="1271016"/>
            <a:ext cx="146304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96328" y="9144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3B9AE0"/>
          </a:solidFill>
          <a:ln w="12700">
            <a:solidFill>
              <a:srgbClr val="3B9A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93268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0" y="1280160"/>
            <a:ext cx="0" cy="4114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91640"/>
            <a:ext cx="786384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91640"/>
            <a:ext cx="0" cy="4114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10312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SMOTE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Balancing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92808" y="2459736"/>
            <a:ext cx="146304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210312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9112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StandardScaler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Normalization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11880" y="2459736"/>
            <a:ext cx="146304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58184" y="210312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0EA472"/>
          </a:solidFill>
          <a:ln w="12700">
            <a:solidFill>
              <a:srgbClr val="0EA4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Training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30952" y="2459736"/>
            <a:ext cx="146304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7256" y="210312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1AB87A"/>
          </a:solidFill>
          <a:ln w="12700">
            <a:solidFill>
              <a:srgbClr val="1AB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GridSearchCV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Tuning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50024" y="2459736"/>
            <a:ext cx="146304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96328" y="210312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Deploy to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Streamlit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3063240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127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E86DE"/>
                </a:solidFill>
              </a:rPr>
              <a:t>KEY TECHNIQUES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4107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✦  Missing Value Imputation     ✦  Label Encoding     ✦  Log Transformation     ✦  EMI &amp; Balance Income     ✦  SelectKBest     ✦  SMOTE     ✦  StandardScaler     ✦  GridSearchCV  •  5-Fold CV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7947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069848"/>
            <a:ext cx="1481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Value Handling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Categorical → Mode imputation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487168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487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Numerical → Median imputation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145536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145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Credit History → Mode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803904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8039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Preserves distribution shape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68880" y="1051560"/>
            <a:ext cx="2057400" cy="37947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68880" y="10515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1556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71800" y="1069848"/>
            <a:ext cx="1481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Categorical Encoding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560320" y="1828800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0604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Gender: Male=1, Female=0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560320" y="2487168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06040" y="2487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Married/Education: Yes/No → 1/0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560320" y="3145536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606040" y="3145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Dependents: '3+' → 3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560320" y="3803904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06040" y="38039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Property Area: Urban/Semi/Rural→2/1/0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63440" y="1051560"/>
            <a:ext cx="2057400" cy="37947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63440" y="10515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15568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66360" y="1069848"/>
            <a:ext cx="1481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754880" y="1828800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0060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Total Income = Applicant + Co-applicant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54880" y="2487168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00600" y="2487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LoanAmount_log = log(1+LoanAmount)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54880" y="3145536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800600" y="3145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EMI = LoanAmount / Term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754880" y="3803904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800600" y="38039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Balance Income = Income − (EMI×1000)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858000" y="1051560"/>
            <a:ext cx="2057400" cy="37947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858000" y="10515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1556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60920" y="1069848"/>
            <a:ext cx="1481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Balancing &amp; Scaling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949440" y="1828800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99516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SMOTE: synthetic minority samples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949440" y="2487168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995160" y="2487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k_neighbors=5, train-set only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949440" y="3145536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995160" y="3145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StandardScaler: zero mean, unit var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949440" y="3803904"/>
            <a:ext cx="1874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995160" y="38039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Scaler fit on train → applied to test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68–70%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Loan Approval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Class imbalance present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Credit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Strongest predictor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Income Distribution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Log transform needed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240280"/>
          <a:ext cx="2743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3246120" y="2240280"/>
          <a:ext cx="2743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4028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1792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A56A0"/>
                </a:solidFill>
              </a:rPr>
              <a:t>ADDITIONAL FINDINGS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36208" y="2697480"/>
            <a:ext cx="137160" cy="1371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Semiurban applicants show higher approval rates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36208" y="3099816"/>
            <a:ext cx="137160" cy="1371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46520" y="3054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Married applicants approved more frequently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36208" y="3502152"/>
            <a:ext cx="137160" cy="1371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Graduate applicants have better approval odds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36208" y="3904488"/>
            <a:ext cx="137160" cy="1371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46520" y="38587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Positive correlation: Income ↔ Loan Amount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236208" y="4306824"/>
            <a:ext cx="137160" cy="1371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42611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Income &amp; Loan Amount both right-skewed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 Evaluated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2E86DE">
              <a:alpha val="12000"/>
            </a:srgbClr>
          </a:solidFill>
          <a:ln w="12700">
            <a:solidFill>
              <a:srgbClr val="2E86D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79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24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408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Linear probabilistic baseline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0D6E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115568"/>
            <a:ext cx="640080" cy="640080"/>
          </a:xfrm>
          <a:prstGeom prst="ellipse">
            <a:avLst/>
          </a:prstGeom>
          <a:solidFill>
            <a:srgbClr val="0D6EA1"/>
          </a:solidFill>
          <a:ln w="12700">
            <a:solidFill>
              <a:srgbClr val="0D6EA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1795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024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14800" y="1408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Interpretable binary splits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83280" y="21031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Interpretable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72200" y="9144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11556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17957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1024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040880" y="1408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Ensemble of 100+ trees (bagging)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09360" y="21031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0936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★ Top Performer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7432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944368"/>
            <a:ext cx="640080" cy="6400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00837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2852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SVM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8872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Max-margin classifier (RBF kernel)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9319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Kernel Method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46120" y="27432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383280" y="2944368"/>
            <a:ext cx="640080" cy="6400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008376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114800" y="2852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11480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Instance-based k-neighbor voting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383280" y="39319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38328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Distance-Based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172200" y="27432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0E255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309360" y="294436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008376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040880" y="2852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704088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Gradient boosting with regularization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309360" y="393192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30936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★ Top Performer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320040" y="4617720"/>
            <a:ext cx="8503920" cy="411480"/>
          </a:xfrm>
          <a:prstGeom prst="roundRect">
            <a:avLst>
              <a:gd name="adj" fmla="val 20000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models trained with:  GridSearchCV Hyperparameter Tuning  •  5-Fold Cross Validation  •  ROC-AUC Optimization Criterion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40680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A56A0"/>
                </a:solidFill>
              </a:rPr>
              <a:t>TOP PERFORMERS  &amp;  METRIC SUMMARY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40680" y="1371600"/>
            <a:ext cx="3474720" cy="859536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40680" y="1371600"/>
            <a:ext cx="1005840" cy="219456"/>
          </a:xfrm>
          <a:prstGeom prst="roundRect">
            <a:avLst>
              <a:gd name="adj" fmla="val 291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680" y="13716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★ TOP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1600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XGBoost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1883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Acc: 84–88%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49440" y="1600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A0"/>
                </a:solidFill>
              </a:rPr>
              <a:t>F1: 0.84–0.88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4944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AUC: 0.88–0.93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40680" y="2313432"/>
            <a:ext cx="3474720" cy="859536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2313432"/>
            <a:ext cx="1005840" cy="219456"/>
          </a:xfrm>
          <a:prstGeom prst="roundRect">
            <a:avLst>
              <a:gd name="adj" fmla="val 291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2313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★ TOP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3212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32120" y="28254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Acc: 83–87%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49440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A0"/>
                </a:solidFill>
              </a:rPr>
              <a:t>F1: 0.83–0.87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94944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AUC: 0.87–0.92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40680" y="3255264"/>
            <a:ext cx="34747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53212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SVM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2120" y="37673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Acc: 79–83%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4944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A0"/>
                </a:solidFill>
              </a:rPr>
              <a:t>F1: 0.79–0.83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49440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AUC: 0.83–0.87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40680" y="4197096"/>
            <a:ext cx="34747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532120" y="4425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32120" y="4709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Acc: 78–82%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949440" y="4425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A0"/>
                </a:solidFill>
              </a:rPr>
              <a:t>F1: 0.78–0.82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949440" y="4672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AUC: 0.82–0.86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SYVORA FINANCE — Application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2011680"/>
          </a:xfrm>
          <a:prstGeom prst="roundRect">
            <a:avLst>
              <a:gd name="adj" fmla="val 5909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457200" cy="4572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424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Modern FinTech overview with key metrics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A5FA0"/>
                </a:solidFill>
              </a:rPr>
              <a:t>[ Insert Screenshot Here 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160520" cy="2011680"/>
          </a:xfrm>
          <a:prstGeom prst="roundRect">
            <a:avLst>
              <a:gd name="adj" fmla="val 5909"/>
            </a:avLst>
          </a:prstGeom>
          <a:solidFill>
            <a:srgbClr val="0E2554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024128"/>
            <a:ext cx="457200" cy="45720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0424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426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Multi-column input form for applicant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801368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013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A5FA0"/>
                </a:solidFill>
              </a:rPr>
              <a:t>[ Insert Screenshot Here 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160520" cy="2011680"/>
          </a:xfrm>
          <a:prstGeom prst="roundRect">
            <a:avLst>
              <a:gd name="adj" fmla="val 5909"/>
            </a:avLst>
          </a:prstGeom>
          <a:solidFill>
            <a:srgbClr val="0E255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7296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912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 Approved 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753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Green approval screen with confidence &amp; metrics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502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A5FA0"/>
                </a:solidFill>
              </a:rPr>
              <a:t>[ Insert Screenshot Here 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4160520" cy="2011680"/>
          </a:xfrm>
          <a:prstGeom prst="roundRect">
            <a:avLst>
              <a:gd name="adj" fmla="val 5909"/>
            </a:avLst>
          </a:prstGeom>
          <a:solidFill>
            <a:srgbClr val="0E255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17296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1912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 Rejected 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5753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Red rejection with constructive feedback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950208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502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A5FA0"/>
                </a:solidFill>
              </a:rPr>
              <a:t>[ Insert Screenshot Here 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4440"/>
            <a:ext cx="640080" cy="6400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984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194767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Cloud Deployment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22677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AWS / Azure / GCP via Docker &amp; Kubernetes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29968" y="109728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32888" y="1234440"/>
            <a:ext cx="640080" cy="6400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2984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194767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Explainable AI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22677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 &amp; LIME for instance-level explanations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85616" y="109728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88536" y="12344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2984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194767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Fraud Detection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58768" y="22677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Isolation Forest for anomalous applications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541264" y="109728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44184" y="12344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2984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14416" y="194767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14416" y="22677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iOS &amp; Android with biometric authentication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296912" y="109728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99832" y="12344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29844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70064" y="194767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370064" y="22677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TabNet / Neural Networks for tabular data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74320" y="297180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17296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" y="382219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Credit Bureau API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347472" y="41422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CIBIL / Experian integration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2029968" y="297180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532888" y="310896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6896" y="3172968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103120" y="382219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 Retraining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2103120" y="41422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Concept drift detection &amp; pipeline refresh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785616" y="297180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288536" y="310896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2544" y="3172968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58768" y="382219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Federated Learning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3858768" y="41422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Privacy-preserving multi-bank collaboration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541264" y="297180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044184" y="310896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2" y="3172968"/>
            <a:ext cx="384048" cy="38404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614416" y="382219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Multi-Language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5614416" y="41422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Hindi, Tamil, Bengali UI for rural inclusion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7296912" y="2971800"/>
            <a:ext cx="1645920" cy="1691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3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799832" y="3108960"/>
            <a:ext cx="640080" cy="6400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3172968"/>
            <a:ext cx="384048" cy="38404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370064" y="382219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Risk-Based Pricing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7370064" y="41422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Dynamic interest rates based on default prob.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2E86DE">
              <a:alpha val="12000"/>
            </a:srgbClr>
          </a:solidFill>
          <a:ln w="12700">
            <a:solidFill>
              <a:srgbClr val="2E86D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029200" cy="3520440"/>
          </a:xfrm>
          <a:prstGeom prst="roundRect">
            <a:avLst>
              <a:gd name="adj" fmla="val 3377"/>
            </a:avLst>
          </a:prstGeom>
          <a:solidFill>
            <a:srgbClr val="0E2554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6DE"/>
                </a:solidFill>
              </a:rPr>
              <a:t>WHAT WE ACHIEVED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38988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End-to-end ML pipeline from raw data to production deployment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8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86537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models trained, tuned, and benchmarked with GridSearchCV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82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34086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XGBoost &amp; Random Forest achieved ~84–88% accuracy &amp; ROC-AUC ~0.92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4378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81635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SMOTE resolved class imbalance — minority recall improved significantly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1927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29184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SYVORA FINANCE deployed as a real-time Streamlit web application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4672" y="376732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 engineering (EMI, Balance Income) validated as top predictors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5577840" y="914400"/>
            <a:ext cx="3200400" cy="3520440"/>
          </a:xfrm>
          <a:prstGeom prst="roundRect">
            <a:avLst>
              <a:gd name="adj" fmla="val 3714"/>
            </a:avLst>
          </a:prstGeom>
          <a:solidFill>
            <a:srgbClr val="0E255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71500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5715000" y="1417320"/>
            <a:ext cx="2926080" cy="640080"/>
          </a:xfrm>
          <a:prstGeom prst="roundRect">
            <a:avLst>
              <a:gd name="adj" fmla="val 12857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760720" y="144475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65379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Prediction Speed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537960" y="1737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</a:rPr>
              <a:t>vs. days manually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5715000" y="2148840"/>
            <a:ext cx="2926080" cy="640080"/>
          </a:xfrm>
          <a:prstGeom prst="roundRect">
            <a:avLst>
              <a:gd name="adj" fmla="val 12857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760720" y="217627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~88%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5379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Accuracy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537960" y="2468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</a:rPr>
              <a:t>top model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715000" y="2880360"/>
            <a:ext cx="2926080" cy="640080"/>
          </a:xfrm>
          <a:prstGeom prst="roundRect">
            <a:avLst>
              <a:gd name="adj" fmla="val 12857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760720" y="29077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653796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Objective Decision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537960" y="3200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</a:rPr>
              <a:t>no human bias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5715000" y="3611880"/>
            <a:ext cx="2926080" cy="640080"/>
          </a:xfrm>
          <a:prstGeom prst="roundRect">
            <a:avLst>
              <a:gd name="adj" fmla="val 12857"/>
            </a:avLst>
          </a:prstGeom>
          <a:solidFill>
            <a:srgbClr val="16265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760720" y="363931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2200" dirty="0"/>
          </a:p>
        </p:txBody>
      </p:sp>
      <p:sp>
        <p:nvSpPr>
          <p:cNvPr id="35" name="Text 27"/>
          <p:cNvSpPr/>
          <p:nvPr/>
        </p:nvSpPr>
        <p:spPr>
          <a:xfrm>
            <a:off x="65379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Efficiency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53796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</a:rPr>
              <a:t>fewer analysts needed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Thank You  •  Questions Welcome  •  SYVORA FINANCE — AI-Powered Loan Approval Prediction System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SYVORA FINANCE – AI-Powered Loan Approval Prediction System</dc:title>
  <dc:subject>PptxGenJS Presentation</dc:subject>
  <dc:creator>Shreya Gupta &amp; Somya Dwivedi</dc:creator>
  <cp:lastModifiedBy>Shreya Gupta &amp; Somya Dwivedi</cp:lastModifiedBy>
  <cp:revision>1</cp:revision>
  <dcterms:created xsi:type="dcterms:W3CDTF">2026-06-20T20:45:29Z</dcterms:created>
  <dcterms:modified xsi:type="dcterms:W3CDTF">2026-06-20T20:45:29Z</dcterms:modified>
</cp:coreProperties>
</file>